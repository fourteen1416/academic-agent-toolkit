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</a:rPr>
              <a:t>High-Level Editable Neural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184"/>
                </a:solidFill>
              </a:rPr>
              <a:t>Built from PowerPoint native shapes. Internal blocks, arrows, tokens, nodes, and labels can be selected and edited independently.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93976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600200" y="2212848"/>
            <a:ext cx="338328" cy="47548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65960" y="25328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569464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 flipV="1">
            <a:off x="2743200" y="2212848"/>
            <a:ext cx="338328" cy="47548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205740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093976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886200" y="2212848"/>
            <a:ext cx="338328" cy="47548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5328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569464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 flipV="1">
            <a:off x="5029200" y="2212848"/>
            <a:ext cx="338328" cy="47548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205740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093976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172200" y="2212848"/>
            <a:ext cx="338328" cy="47548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37960" y="25328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569464"/>
            <a:ext cx="685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2026-05-24T12:02:55.115Z | This deck is meant as a PPT-editable primitive library, not a rendered icon sprite sheet.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Block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concept.transformer_block | editable PowerPoint shape primitive | tags: attention, mlp, residual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325880"/>
            <a:ext cx="4389120" cy="347472"/>
          </a:xfrm>
          <a:prstGeom prst="roundRect">
            <a:avLst>
              <a:gd name="adj" fmla="val 2105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362456"/>
            <a:ext cx="4297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554480" y="1947672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 Attention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54480" y="2679192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715768"/>
            <a:ext cx="3749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+ Norm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54480" y="3410712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3474720"/>
            <a:ext cx="3749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/ FFN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54480" y="4123944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4160520"/>
            <a:ext cx="3749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+ Norm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0" y="1673352"/>
            <a:ext cx="914" cy="2743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74720" y="2386584"/>
            <a:ext cx="914" cy="29260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74720" y="3063240"/>
            <a:ext cx="914" cy="34747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0" y="3849624"/>
            <a:ext cx="914" cy="27432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16152" y="1508760"/>
            <a:ext cx="914" cy="2788920"/>
          </a:xfrm>
          <a:prstGeom prst="line">
            <a:avLst/>
          </a:prstGeom>
          <a:noFill/>
          <a:ln w="12700">
            <a:solidFill>
              <a:srgbClr val="6471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6152" y="4297680"/>
            <a:ext cx="338328" cy="914"/>
          </a:xfrm>
          <a:prstGeom prst="line">
            <a:avLst/>
          </a:prstGeom>
          <a:noFill/>
          <a:ln w="12700">
            <a:solidFill>
              <a:srgbClr val="6471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Multi-Head Attention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concept.multi_head_attention | editable PowerPoint shape primitive | tags: qkv, heads, softmax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463040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143000" y="2011680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48256"/>
            <a:ext cx="502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43000" y="2560320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596896"/>
            <a:ext cx="502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94560" y="1399032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435608"/>
            <a:ext cx="914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 flipV="1">
            <a:off x="1737360" y="1545336"/>
            <a:ext cx="457200" cy="73152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1737360" y="1545336"/>
            <a:ext cx="457200" cy="621792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1737360" y="1545336"/>
            <a:ext cx="457200" cy="1170432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94560" y="189280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929384"/>
            <a:ext cx="914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2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737360" y="1618488"/>
            <a:ext cx="457200" cy="420624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1737360" y="2039112"/>
            <a:ext cx="457200" cy="128016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1737360" y="2039112"/>
            <a:ext cx="457200" cy="676656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94560" y="238658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423160"/>
            <a:ext cx="914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3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737360" y="1618488"/>
            <a:ext cx="457200" cy="914400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37360" y="2167128"/>
            <a:ext cx="457200" cy="365760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737360" y="2532888"/>
            <a:ext cx="457200" cy="182880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194560" y="28803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2916936"/>
            <a:ext cx="914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4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737360" y="1618488"/>
            <a:ext cx="457200" cy="1408176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737360" y="2167128"/>
            <a:ext cx="457200" cy="859536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737360" y="2715768"/>
            <a:ext cx="457200" cy="310896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49040" y="1764792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1975104"/>
            <a:ext cx="640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846320" y="1892808"/>
            <a:ext cx="777240" cy="475488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975104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0" y="2148840"/>
            <a:ext cx="548640" cy="914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80560" y="2148840"/>
            <a:ext cx="365760" cy="914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94560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96896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98064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99232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01568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02736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0" y="39593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184"/>
                </a:solidFill>
              </a:rPr>
              <a:t>attention map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KV Cache Decode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concept.kv_cache_decode | editable PowerPoint shape primitive | tags: llm, cache, autoregressive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5728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6896" y="1554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94767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984248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token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0" y="169164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956816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cache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749040" y="169164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956816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cache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0" y="1947672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984248"/>
            <a:ext cx="548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03120" y="2148840"/>
            <a:ext cx="45720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20440" y="2148840"/>
            <a:ext cx="228600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09160" y="2148840"/>
            <a:ext cx="32004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97480" y="2834640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6200" y="2834640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2999232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86200" y="2999232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3163824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86200" y="3163824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328416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6200" y="3328416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3493008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86200" y="3493008"/>
            <a:ext cx="6583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8488" y="2331720"/>
            <a:ext cx="914" cy="128016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18488" y="3611880"/>
            <a:ext cx="1078992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concept.rag_pipeline | editable PowerPoint shape primitive | tags: retrieval, chunks, generation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60020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50492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650492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657600" y="146304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650492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rerank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650492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20240" y="1801368"/>
            <a:ext cx="36576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1801368"/>
            <a:ext cx="36576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1801368"/>
            <a:ext cx="36576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41448" y="2468880"/>
            <a:ext cx="713232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41448" y="2670048"/>
            <a:ext cx="713232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1448" y="2871216"/>
            <a:ext cx="713232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41448" y="3072384"/>
            <a:ext cx="713232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6472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8808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9976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1144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651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Tool Loop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concept.agent_loop | editable PowerPoint shape primitive | tags: planner, tools, memory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1463040"/>
            <a:ext cx="7772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73552" y="1545336"/>
            <a:ext cx="722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4800600" y="2331720"/>
            <a:ext cx="7772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2414016"/>
            <a:ext cx="722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3886200" y="3703320"/>
            <a:ext cx="7772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3785616"/>
            <a:ext cx="722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2057400" y="3474720"/>
            <a:ext cx="7772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3557016"/>
            <a:ext cx="722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1600200" y="2194560"/>
            <a:ext cx="7772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276856"/>
            <a:ext cx="722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3630168" y="1682496"/>
            <a:ext cx="1554480" cy="86868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4270248" y="2551176"/>
            <a:ext cx="914400" cy="137160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 flipV="1">
            <a:off x="2441448" y="3694176"/>
            <a:ext cx="1828800" cy="22860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 flipV="1">
            <a:off x="1984248" y="2414016"/>
            <a:ext cx="457200" cy="128016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1984248" y="1682496"/>
            <a:ext cx="1645920" cy="73152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80360" y="24688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505456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Diffusion Denoising Chain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concept.diffusion_denoise | editable PowerPoint shape primitive | tags: noise, unet, scheduler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3736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92808"/>
            <a:ext cx="5303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901952" y="2048256"/>
            <a:ext cx="27432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76272" y="173736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892808"/>
            <a:ext cx="5303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t-1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798064" y="2048256"/>
            <a:ext cx="27432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72384" y="173736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8104" y="1892808"/>
            <a:ext cx="5303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t-2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694176" y="2048256"/>
            <a:ext cx="27432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68496" y="173736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216" y="1892808"/>
            <a:ext cx="5303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t-3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4590288" y="2048256"/>
            <a:ext cx="27432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64608" y="173736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892808"/>
            <a:ext cx="53035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286000" y="2926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999232"/>
            <a:ext cx="2103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denoiser / U-Net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83280" y="2359152"/>
            <a:ext cx="914" cy="56692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Encoder-Decoder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concept.encoder_decoder | editable PowerPoint shape primitive | tags: latent, bottleneck, decoder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965960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1911096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1856232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9616" y="1801368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01168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26771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64008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263140"/>
            <a:ext cx="5852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617720" y="201168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6771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852160" y="1965960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5312" y="1911096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1856232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801368"/>
            <a:ext cx="594360" cy="100584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2423160"/>
            <a:ext cx="41148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46120" y="2423160"/>
            <a:ext cx="36576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51960" y="2423160"/>
            <a:ext cx="36576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77840" y="2423160"/>
            <a:ext cx="27432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Mamba / State-Space Scan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concept.mamba_scan | editable PowerPoint shape primitive | tags: ssm, selective scan, sequence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3664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8336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9504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3008" y="1645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214884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19913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34640" y="214884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19913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60520" y="214884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19913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60320" y="2359152"/>
            <a:ext cx="27432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86200" y="2359152"/>
            <a:ext cx="27432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26080" y="2926080"/>
            <a:ext cx="91440" cy="274320"/>
          </a:xfrm>
          <a:prstGeom prst="line">
            <a:avLst/>
          </a:prstGeom>
          <a:noFill/>
          <a:ln w="11430">
            <a:solidFill>
              <a:srgbClr val="B4530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2926080"/>
            <a:ext cx="91440" cy="274320"/>
          </a:xfrm>
          <a:prstGeom prst="line">
            <a:avLst/>
          </a:prstGeom>
          <a:noFill/>
          <a:ln w="1143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926080"/>
            <a:ext cx="91440" cy="274320"/>
          </a:xfrm>
          <a:prstGeom prst="line">
            <a:avLst/>
          </a:prstGeom>
          <a:noFill/>
          <a:ln w="1143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926080"/>
            <a:ext cx="91440" cy="274320"/>
          </a:xfrm>
          <a:prstGeom prst="line">
            <a:avLst/>
          </a:prstGeom>
          <a:noFill/>
          <a:ln w="1143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926080"/>
            <a:ext cx="91440" cy="274320"/>
          </a:xfrm>
          <a:prstGeom prst="line">
            <a:avLst/>
          </a:prstGeom>
          <a:noFill/>
          <a:ln w="11430">
            <a:solidFill>
              <a:srgbClr val="B453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2926080"/>
            <a:ext cx="91440" cy="274320"/>
          </a:xfrm>
          <a:prstGeom prst="line">
            <a:avLst/>
          </a:prstGeom>
          <a:noFill/>
          <a:ln w="1143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31927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184"/>
                </a:solidFill>
              </a:rPr>
              <a:t>state-space recurrence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GNN Message Passing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concept.gnn_message_passing | editable PowerPoint shape primitive | tags: graph, aggregate, update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874520" y="1600200"/>
            <a:ext cx="1188720" cy="9144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691640"/>
            <a:ext cx="2286000" cy="41148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691640"/>
            <a:ext cx="914" cy="105156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600200"/>
            <a:ext cx="1097280" cy="50292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600200"/>
            <a:ext cx="91440" cy="146304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154680" y="2103120"/>
            <a:ext cx="1005840" cy="96012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874520" y="2103120"/>
            <a:ext cx="2286000" cy="64008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1874520" y="2743200"/>
            <a:ext cx="1280160" cy="32004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28216" y="15453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1572768"/>
            <a:ext cx="2377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916936" y="1453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481328"/>
            <a:ext cx="2377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4014216" y="195681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3008376" y="291693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1728216" y="2596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55648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4937760" y="182880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87909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191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 flipV="1">
            <a:off x="4297680" y="2039112"/>
            <a:ext cx="640080" cy="29260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VLM / VLA Fusion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concept.vlm_vla_fusion | editable PowerPoint shape primitive | tags: vision, language, action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3736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9476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patches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1280160" y="28346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93065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tokens</a:t>
            </a:r>
            <a:endParaRPr lang="en-US" sz="630" dirty="0"/>
          </a:p>
        </p:txBody>
      </p:sp>
      <p:sp>
        <p:nvSpPr>
          <p:cNvPr id="9" name="Shape 7"/>
          <p:cNvSpPr/>
          <p:nvPr/>
        </p:nvSpPr>
        <p:spPr>
          <a:xfrm>
            <a:off x="2834640" y="205740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290572"/>
            <a:ext cx="1051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905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/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194560" y="2103120"/>
            <a:ext cx="640080" cy="1371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2194560" y="2651760"/>
            <a:ext cx="640080" cy="42976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2441448"/>
            <a:ext cx="640080" cy="91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RNN / LSTM Cell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concept.rnn_lstm_cell | editable PowerPoint shape primitive | tags: gate, hidden state, memory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7830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336292"/>
            <a:ext cx="3383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state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920240" y="2286000"/>
            <a:ext cx="6400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2340864"/>
            <a:ext cx="5852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2880360" y="2286000"/>
            <a:ext cx="6400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2340864"/>
            <a:ext cx="5852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3840480" y="2286000"/>
            <a:ext cx="6400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2340864"/>
            <a:ext cx="5852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570" dirty="0"/>
          </a:p>
        </p:txBody>
      </p:sp>
      <p:sp>
        <p:nvSpPr>
          <p:cNvPr id="13" name="Shape 11"/>
          <p:cNvSpPr/>
          <p:nvPr/>
        </p:nvSpPr>
        <p:spPr>
          <a:xfrm>
            <a:off x="1143000" y="2468880"/>
            <a:ext cx="457200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2468880"/>
            <a:ext cx="548640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1417320"/>
            <a:ext cx="914" cy="365760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/ 3D Feature Stack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concept.cnn_3d_feature_stack | editable PowerPoint shape primitive | tags: conv, feature pyramid, 3d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4884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093976"/>
            <a:ext cx="777240" cy="91440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3624" y="2039112"/>
            <a:ext cx="777240" cy="91440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984248"/>
            <a:ext cx="777240" cy="91440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9928" y="1929384"/>
            <a:ext cx="777240" cy="91440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01168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3512" y="1956816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6664" y="1901952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9816" y="1847088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792224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874520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FDE68A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9432" y="1819656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FDE68A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764792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FDE68A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709928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FDE68A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655064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FDE68A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3432" y="2404872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58568" y="2606040"/>
            <a:ext cx="576072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67912" y="2606040"/>
            <a:ext cx="612648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788920" y="347472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184"/>
                </a:solidFill>
              </a:rPr>
              <a:t>feature pyramid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to Embedding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concept.embedding_tokenizer | editable PowerPoint shape primitive | tags: token, embedding, projection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3664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64592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741932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0" y="1554480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1554480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1554480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554480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1554480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554480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700784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1104" y="1700784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1700784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1700784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1700784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700784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1847088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1104" y="1847088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1847088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3712" y="1847088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1847088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847088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993392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1104" y="1993392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07408" y="1993392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53712" y="1993392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0016" y="1993392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993392"/>
            <a:ext cx="100584" cy="1005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1856232"/>
            <a:ext cx="32004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611880" y="1856232"/>
            <a:ext cx="502920" cy="914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251960" y="265176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688336"/>
            <a:ext cx="914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Distribution Shift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concept.distribution_shift | editable PowerPoint shape primitive | tags: source, target, density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474720"/>
            <a:ext cx="406908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371600" y="1645920"/>
            <a:ext cx="914" cy="18288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87121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55117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6976" y="2560434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0016" y="2240394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1836" y="2508314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4876" y="2188274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140" y="2862475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180" y="2542435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4921" y="2619829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7961" y="2299789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3386" y="2467621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96426" y="2147581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4008" y="2836949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7048" y="2516909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96846" y="2681768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9886" y="2361728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1154" y="244159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4194" y="212155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9566" y="2796670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42606" y="2476630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46715" y="274131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09755" y="242127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3939" y="2432313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9" y="2112273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95403" y="2744849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8443" y="2424809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4750" y="2793730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37790" y="2473690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30466" y="2440510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93506" y="2120470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94702" y="2685611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57742" y="2365571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2379" y="2834835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5419" y="2514795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39986" y="246553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3026" y="214549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0478" y="2623678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3518" y="2303638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41943" y="2861357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04983" y="2541317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59307" y="250539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22347" y="218535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08043" y="2563981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71083" y="2243941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10599" y="2871182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3639" y="2551142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15760" y="255691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78800" y="223687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84699" y="251127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47739" y="219123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5314" y="2863528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68354" y="2543488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64873" y="2615991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27913" y="2295951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00055" y="2469763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63095" y="2149723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53829" y="2839004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16869" y="2518964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27891" y="2677915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90931" y="2357875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97222" y="2442747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60262" y="2122707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57276" y="2799565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20316" y="2479525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50999" y="2737755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14039" y="2417715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67684" y="2432381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30724" y="2112341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0152" y="2748352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3192" y="2428312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56940" y="2790746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19980" y="2470706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9719" y="2439491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12759" y="2119451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34322" y="2689444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97362" y="2369404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408282" y="2832664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71322" y="2512624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95037" y="2463510"/>
            <a:ext cx="54864" cy="54864"/>
          </a:xfrm>
          <a:prstGeom prst="ellipse">
            <a:avLst/>
          </a:prstGeom>
          <a:solidFill>
            <a:srgbClr val="DBEAFE"/>
          </a:solidFill>
          <a:ln w="5080">
            <a:solidFill>
              <a:srgbClr val="2563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58077" y="2143470"/>
            <a:ext cx="54864" cy="54864"/>
          </a:xfrm>
          <a:prstGeom prst="ellipse">
            <a:avLst/>
          </a:prstGeom>
          <a:solidFill>
            <a:srgbClr val="FDE68A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2971800" y="1645920"/>
            <a:ext cx="914400" cy="182880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92" name="Shape 90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94" name="Shape 92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96" name="Shape 94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98" name="Text 96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Boundary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concept.classification_boundary | editable PowerPoint shape primitive | tags: scatter, margin, decision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3520440"/>
            <a:ext cx="384048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417320" y="1645920"/>
            <a:ext cx="914" cy="18745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14884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5688" y="214884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76856" y="214884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24" y="214884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9192" y="214884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214884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233172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233172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76856" y="233172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78024" y="233172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9192" y="233172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233172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251460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5688" y="251460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76856" y="251460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78024" y="251460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9192" y="251460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2514600"/>
            <a:ext cx="73152" cy="731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242316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04488" y="242316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05656" y="242316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06824" y="242316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242316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42316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260604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04488" y="260604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05656" y="260604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06824" y="260604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7992" y="260604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60604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03320" y="278892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04488" y="278892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05656" y="278892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06824" y="278892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278892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788920"/>
            <a:ext cx="73152" cy="731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54680" y="1828800"/>
            <a:ext cx="411480" cy="155448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Curve Panel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concept.loss_curve_panel | editable PowerPoint shape primitive | tags: train, val, metric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3429000"/>
            <a:ext cx="406908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463040" y="1737360"/>
            <a:ext cx="914" cy="16916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48840"/>
            <a:ext cx="411480" cy="231605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377440"/>
            <a:ext cx="411480" cy="138053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2326308"/>
            <a:ext cx="411480" cy="146827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542925"/>
            <a:ext cx="411480" cy="53162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430120"/>
            <a:ext cx="411480" cy="108779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514600" y="2584949"/>
            <a:ext cx="411480" cy="38571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503776"/>
            <a:ext cx="411480" cy="86134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926080" y="2559574"/>
            <a:ext cx="411480" cy="52807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560908"/>
            <a:ext cx="411480" cy="70681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587006"/>
            <a:ext cx="411480" cy="23542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607588"/>
            <a:ext cx="411480" cy="59239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637979"/>
            <a:ext cx="411480" cy="120281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2647055"/>
            <a:ext cx="411480" cy="50297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2785692"/>
            <a:ext cx="411480" cy="148470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681244"/>
            <a:ext cx="411480" cy="43034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961594"/>
            <a:ext cx="411480" cy="82190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7373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773936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Fourier / Spectral 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concept.fourier_spectral | editable PowerPoint shape primitive | tags: frequency, filter, basis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560320"/>
            <a:ext cx="160020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560320"/>
            <a:ext cx="45720" cy="91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508760" y="2176805"/>
            <a:ext cx="45720" cy="38351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600200" y="2282380"/>
            <a:ext cx="45720" cy="27794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560320"/>
            <a:ext cx="45720" cy="18208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2560320"/>
            <a:ext cx="45720" cy="40990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560320"/>
            <a:ext cx="45720" cy="11497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965960" y="2233742"/>
            <a:ext cx="45720" cy="32657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057400" y="2208670"/>
            <a:ext cx="45720" cy="35165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560320"/>
            <a:ext cx="45720" cy="717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2560320"/>
            <a:ext cx="45720" cy="40363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560320"/>
            <a:ext cx="45720" cy="220789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423160" y="2316694"/>
            <a:ext cx="45720" cy="24362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514600" y="2162971"/>
            <a:ext cx="45720" cy="397349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606040" y="2515982"/>
            <a:ext cx="45720" cy="4433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2560320"/>
            <a:ext cx="45720" cy="36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2560320"/>
            <a:ext cx="45720" cy="3090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011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199132"/>
            <a:ext cx="594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4840" y="2651760"/>
            <a:ext cx="82296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2569464"/>
            <a:ext cx="82296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2487168"/>
            <a:ext cx="82296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3752" y="2404872"/>
            <a:ext cx="82296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0056" y="2322576"/>
            <a:ext cx="82296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2240280"/>
            <a:ext cx="82296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2664" y="2157984"/>
            <a:ext cx="82296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58968" y="2075688"/>
            <a:ext cx="82296" cy="60350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971800" y="2350008"/>
            <a:ext cx="320040" cy="21031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977640" y="2350008"/>
            <a:ext cx="457200" cy="2743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Mixture-of-Experts Router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concept.moe_router | editable PowerPoint shape primitive | tags: router, experts, top-k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28600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322576"/>
            <a:ext cx="640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377440" y="2148840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322576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03320" y="155448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59105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1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 flipV="1">
            <a:off x="3154680" y="1709928"/>
            <a:ext cx="548640" cy="768096"/>
          </a:xfrm>
          <a:prstGeom prst="line">
            <a:avLst/>
          </a:prstGeom>
          <a:noFill/>
          <a:ln w="127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205740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09397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 flipV="1">
            <a:off x="3154680" y="2212848"/>
            <a:ext cx="548640" cy="265176"/>
          </a:xfrm>
          <a:prstGeom prst="line">
            <a:avLst/>
          </a:prstGeom>
          <a:noFill/>
          <a:ln w="127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5603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59689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3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154680" y="2478024"/>
            <a:ext cx="548640" cy="237744"/>
          </a:xfrm>
          <a:prstGeom prst="line">
            <a:avLst/>
          </a:prstGeom>
          <a:noFill/>
          <a:ln w="12700">
            <a:solidFill>
              <a:srgbClr val="BCC8D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03320" y="30632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099816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4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154680" y="2478024"/>
            <a:ext cx="548640" cy="740664"/>
          </a:xfrm>
          <a:prstGeom prst="line">
            <a:avLst/>
          </a:prstGeom>
          <a:noFill/>
          <a:ln w="12700">
            <a:solidFill>
              <a:srgbClr val="BCC8D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65960" y="2478024"/>
            <a:ext cx="41148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Federated Round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concept.federated_round | editable PowerPoint shape primitive | tags: clients, server, aggregate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874520"/>
            <a:ext cx="82296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36392" y="1988820"/>
            <a:ext cx="7680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508760" y="2971800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008376"/>
            <a:ext cx="594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1</a:t>
            </a:r>
            <a:endParaRPr lang="en-US" sz="580" dirty="0"/>
          </a:p>
        </p:txBody>
      </p:sp>
      <p:sp>
        <p:nvSpPr>
          <p:cNvPr id="9" name="Shape 7"/>
          <p:cNvSpPr/>
          <p:nvPr/>
        </p:nvSpPr>
        <p:spPr>
          <a:xfrm flipV="1">
            <a:off x="1856232" y="2377440"/>
            <a:ext cx="1664208" cy="59436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68880" y="3474720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511296"/>
            <a:ext cx="594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2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 flipV="1">
            <a:off x="2816352" y="2377440"/>
            <a:ext cx="704088" cy="109728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3474720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3511296"/>
            <a:ext cx="594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3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3520440" y="2377440"/>
            <a:ext cx="850392" cy="109728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2971800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008376"/>
            <a:ext cx="594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4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3520440" y="2377440"/>
            <a:ext cx="1764792" cy="59436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17520" y="265176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RL Policy-Environment Loop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concept.rl_loop | editable PowerPoint shape primitive | tags: state, action, reward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5740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153412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60520" y="20574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153412"/>
            <a:ext cx="1051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2313432"/>
            <a:ext cx="169164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017520" y="209397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563EB"/>
                </a:solidFill>
              </a:rPr>
              <a:t>action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 flipH="1">
            <a:off x="2468880" y="2651760"/>
            <a:ext cx="169164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34640" y="2743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5803D"/>
                </a:solidFill>
              </a:rPr>
              <a:t>state + reward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Operator / Field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concept.neural_operator | editable PowerPoint shape primitive | tags: grid, operator, field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874520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1874520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6504" y="1874520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11096" y="1874520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5688" y="1874520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039112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912" y="2039112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6504" y="2039112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1096" y="2039112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2039112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203704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912" y="2203704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6504" y="2203704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1096" y="2203704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5688" y="2203704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2368296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912" y="2368296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46504" y="2368296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1096" y="2368296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5688" y="2368296"/>
            <a:ext cx="109728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20116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08483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874520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3712" y="1874520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874520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82896" y="1874520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1874520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2039112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3712" y="2039112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8304" y="2039112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2896" y="2039112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7488" y="2039112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2203704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3712" y="2203704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2203704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82896" y="2203704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47488" y="2203704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89120" y="2368296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53712" y="2368296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8304" y="2368296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82896" y="2368296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47488" y="2368296"/>
            <a:ext cx="109728" cy="1097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0" y="2194560"/>
            <a:ext cx="502920" cy="45720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3703320" y="2194560"/>
            <a:ext cx="685800" cy="4572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Multimodal Alignment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concept.multimodal_alignment | editable PowerPoint shape primitive | tags: contrastive, vision, text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7373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8333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417320" y="29260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02209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063240" y="1892808"/>
            <a:ext cx="109728" cy="10972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81528"/>
            <a:ext cx="109728" cy="10972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2002536"/>
            <a:ext cx="914" cy="1078992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892808"/>
            <a:ext cx="109728" cy="10972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3081528"/>
            <a:ext cx="109728" cy="10972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0712" y="2002536"/>
            <a:ext cx="914" cy="1078992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8456" y="1892808"/>
            <a:ext cx="109728" cy="10972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48456" y="3081528"/>
            <a:ext cx="109728" cy="10972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002536"/>
            <a:ext cx="914" cy="1078992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41064" y="1892808"/>
            <a:ext cx="109728" cy="10972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41064" y="3081528"/>
            <a:ext cx="109728" cy="10972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95928" y="2002536"/>
            <a:ext cx="914" cy="1078992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295144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91156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Comparison Board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concept.evidence_comparison | editable PowerPoint shape primitive | tags: ablation, metric, before after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7373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85623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85623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508760" y="26060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72491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743200" y="26060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72491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434840" y="205740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336292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badge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977640" y="2478024"/>
            <a:ext cx="45720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Guardrail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concept.safety_guardrail | editable PowerPoint shape primitive | tags: input, guard, output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488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221992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51760" y="1965960"/>
            <a:ext cx="96012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222199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023360" y="21488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221992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303520" y="214884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221992"/>
            <a:ext cx="640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194560" y="2377440"/>
            <a:ext cx="45720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11880" y="2377440"/>
            <a:ext cx="411480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2377440"/>
            <a:ext cx="45720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36392" y="2788920"/>
            <a:ext cx="914" cy="594360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97480" y="338328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419856"/>
            <a:ext cx="777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 Patch Embedding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concept.vit_patch_embedding | editable PowerPoint shape primitive | tags: vision transformer, patch, cls token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6459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61972"/>
            <a:ext cx="1051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1143000" cy="914"/>
          </a:xfrm>
          <a:prstGeom prst="line">
            <a:avLst/>
          </a:prstGeom>
          <a:noFill/>
          <a:ln w="889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645920"/>
            <a:ext cx="914" cy="1143000"/>
          </a:xfrm>
          <a:prstGeom prst="line">
            <a:avLst/>
          </a:prstGeom>
          <a:noFill/>
          <a:ln w="889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194560"/>
            <a:ext cx="1143000" cy="914"/>
          </a:xfrm>
          <a:prstGeom prst="line">
            <a:avLst/>
          </a:prstGeom>
          <a:noFill/>
          <a:ln w="8890">
            <a:solidFill>
              <a:srgbClr val="BC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645920"/>
            <a:ext cx="914" cy="1143000"/>
          </a:xfrm>
          <a:prstGeom prst="line">
            <a:avLst/>
          </a:prstGeom>
          <a:noFill/>
          <a:ln w="8890">
            <a:solidFill>
              <a:srgbClr val="BCC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468880"/>
            <a:ext cx="1143000" cy="914"/>
          </a:xfrm>
          <a:prstGeom prst="line">
            <a:avLst/>
          </a:prstGeom>
          <a:noFill/>
          <a:ln w="8890">
            <a:solidFill>
              <a:srgbClr val="BCC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645920"/>
            <a:ext cx="914" cy="1143000"/>
          </a:xfrm>
          <a:prstGeom prst="line">
            <a:avLst/>
          </a:prstGeom>
          <a:noFill/>
          <a:ln w="8890">
            <a:solidFill>
              <a:srgbClr val="BCC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73736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773936"/>
            <a:ext cx="822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43200" y="222199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258568"/>
            <a:ext cx="822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160520" y="1581912"/>
            <a:ext cx="1417320" cy="1335024"/>
          </a:xfrm>
          <a:prstGeom prst="roundRect">
            <a:avLst>
              <a:gd name="adj" fmla="val 5479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093976"/>
            <a:ext cx="1325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+ pos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61688" y="19293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2856" y="19293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19293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19293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19293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1688" y="22219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22219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64024" y="22219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65192" y="22219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2219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2542032"/>
            <a:ext cx="219456" cy="21945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2560320"/>
            <a:ext cx="164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2194560" y="2221992"/>
            <a:ext cx="54864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657600" y="2221992"/>
            <a:ext cx="50292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U-Net Skip Connections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concept.unet_skip_connections | editable PowerPoint shape primitive | tags: encoder, decoder, skip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6304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9961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 1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4800600" y="146304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9961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1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011680" y="1655064"/>
            <a:ext cx="2788920" cy="914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261872" y="20116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20482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 2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636008" y="20116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0482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176272" y="2203704"/>
            <a:ext cx="2459736" cy="914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426464" y="25603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72184" y="259689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 3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471416" y="25603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259689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340864" y="2752344"/>
            <a:ext cx="2130552" cy="914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81528" y="3291840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3337560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011680" y="2752344"/>
            <a:ext cx="1069848" cy="74066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3904488" y="2752344"/>
            <a:ext cx="896112" cy="74066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60320" y="1280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1316736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feature reuse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Latent Diffusion Conditioning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concept.latent_diffusion_conditioning | editable PowerPoint shape primitive | tags: latent, cross attention, text condition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48840"/>
            <a:ext cx="86868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58568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468880" y="1801368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865376"/>
            <a:ext cx="1051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encoder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68880" y="2651760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715768"/>
            <a:ext cx="1051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zt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114800" y="2057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313432"/>
            <a:ext cx="1143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cross-attn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U-Net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5696712" y="2194560"/>
            <a:ext cx="713232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2290572"/>
            <a:ext cx="6217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 flipV="1">
            <a:off x="2011680" y="2020824"/>
            <a:ext cx="457200" cy="393192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2020824"/>
            <a:ext cx="502920" cy="23774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3611880" y="2587752"/>
            <a:ext cx="502920" cy="274320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5349240" y="2450592"/>
            <a:ext cx="347472" cy="1828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LoRA / Adapter Tuning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concept.lora_adapter_tuning | editable PowerPoint shape primitive | tags: fine tuning, adapter, rank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737360"/>
            <a:ext cx="1051560" cy="17373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45059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W</a:t>
            </a:r>
            <a:endParaRPr lang="en-US" sz="640" dirty="0"/>
          </a:p>
        </p:txBody>
      </p:sp>
      <p:sp>
        <p:nvSpPr>
          <p:cNvPr id="7" name="Shape 5"/>
          <p:cNvSpPr/>
          <p:nvPr/>
        </p:nvSpPr>
        <p:spPr>
          <a:xfrm>
            <a:off x="2834640" y="1618488"/>
            <a:ext cx="77724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682496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34640" y="2240280"/>
            <a:ext cx="77724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304288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23360" y="1920240"/>
            <a:ext cx="1051560" cy="109728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31343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low-rank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5440680" y="2148840"/>
            <a:ext cx="749808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244852"/>
            <a:ext cx="65836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 flipV="1">
            <a:off x="2423160" y="1837944"/>
            <a:ext cx="411480" cy="76809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1837944"/>
            <a:ext cx="411480" cy="310896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11880" y="2459736"/>
            <a:ext cx="411480" cy="32918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5074920" y="2404872"/>
            <a:ext cx="365760" cy="6400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Quantization / Sparsity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concept.quantization_sparsity | editable PowerPoint shape primitive | tags: compression, low bit, mask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37360"/>
            <a:ext cx="1097280" cy="132588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244852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FP16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463040" y="2185416"/>
            <a:ext cx="82296" cy="73152"/>
          </a:xfrm>
          <a:prstGeom prst="rect">
            <a:avLst/>
          </a:prstGeom>
          <a:solidFill>
            <a:srgbClr val="2563EB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7632" y="2185416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2224" y="2185416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2185416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331720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2331720"/>
            <a:ext cx="82296" cy="73152"/>
          </a:xfrm>
          <a:prstGeom prst="rect">
            <a:avLst/>
          </a:prstGeom>
          <a:solidFill>
            <a:srgbClr val="2563EB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92224" y="2331720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2331720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2478024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2478024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92224" y="2478024"/>
            <a:ext cx="82296" cy="73152"/>
          </a:xfrm>
          <a:prstGeom prst="rect">
            <a:avLst/>
          </a:prstGeom>
          <a:solidFill>
            <a:srgbClr val="2563EB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56816" y="2478024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2624328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27632" y="2624328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24328"/>
            <a:ext cx="82296" cy="73152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56816" y="2624328"/>
            <a:ext cx="82296" cy="73152"/>
          </a:xfrm>
          <a:prstGeom prst="rect">
            <a:avLst/>
          </a:prstGeom>
          <a:solidFill>
            <a:srgbClr val="2563EB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4952" y="1874520"/>
            <a:ext cx="960120" cy="100584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22199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quantize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prune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1143000" cy="132588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44852"/>
            <a:ext cx="1051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INT4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873752" y="2258568"/>
            <a:ext cx="82296" cy="512064"/>
          </a:xfrm>
          <a:prstGeom prst="rect">
            <a:avLst/>
          </a:prstGeom>
          <a:solidFill>
            <a:srgbClr val="15803D"/>
          </a:solidFill>
          <a:ln w="2540">
            <a:solidFill>
              <a:srgbClr val="1580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56632" y="2258568"/>
            <a:ext cx="82296" cy="512064"/>
          </a:xfrm>
          <a:prstGeom prst="rect">
            <a:avLst/>
          </a:prstGeom>
          <a:solidFill>
            <a:srgbClr val="DCFCE7"/>
          </a:solidFill>
          <a:ln w="2540">
            <a:solidFill>
              <a:srgbClr val="1580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9512" y="2258568"/>
            <a:ext cx="82296" cy="512064"/>
          </a:xfrm>
          <a:prstGeom prst="rect">
            <a:avLst/>
          </a:prstGeom>
          <a:solidFill>
            <a:srgbClr val="15803D"/>
          </a:solidFill>
          <a:ln w="2540">
            <a:solidFill>
              <a:srgbClr val="1580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2392" y="2258568"/>
            <a:ext cx="82296" cy="512064"/>
          </a:xfrm>
          <a:prstGeom prst="rect">
            <a:avLst/>
          </a:prstGeom>
          <a:solidFill>
            <a:srgbClr val="DCFCE7"/>
          </a:solidFill>
          <a:ln w="2540">
            <a:solidFill>
              <a:srgbClr val="1580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377440" y="2377440"/>
            <a:ext cx="667512" cy="1828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005072" y="2377440"/>
            <a:ext cx="658368" cy="1828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 Detection Head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concept.vision_detection_head | editable PowerPoint shape primitive | tags: backbone, boxes, classes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37360"/>
            <a:ext cx="960120" cy="114300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15341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71600" y="1965960"/>
            <a:ext cx="32004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313432"/>
            <a:ext cx="347472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645920"/>
            <a:ext cx="914400" cy="1325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15341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977640" y="149047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563624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977640" y="216712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240280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77640" y="2843784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91693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48840" y="2313432"/>
            <a:ext cx="50292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3566160" y="1719072"/>
            <a:ext cx="411480" cy="594360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66160" y="2313432"/>
            <a:ext cx="411480" cy="82296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2313432"/>
            <a:ext cx="411480" cy="75895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3D Voxel / Scene Encoder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concept.voxel_scene_encoder | editable PowerPoint shape primitive | tags: 3d, voxel, point cloud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33172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27685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22219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9616" y="2167128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783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87452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24485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206240" y="1673352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723644"/>
            <a:ext cx="1143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BEV grid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206240" y="23774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427732"/>
            <a:ext cx="1143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token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325880" y="32004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912" y="33649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7944" y="32004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93976" y="33649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0008" y="32004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148840" y="2404872"/>
            <a:ext cx="594360" cy="1554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703320" y="1892808"/>
            <a:ext cx="502920" cy="51206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03320" y="2404872"/>
            <a:ext cx="502920" cy="18288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Time-Series Forecasting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concept.time_series_forecasting | editable PowerPoint shape primitive | tags: sequence, forecast, uncertainty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474720"/>
            <a:ext cx="420624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280160" y="1554480"/>
            <a:ext cx="914" cy="1920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63040" y="2377440"/>
            <a:ext cx="411480" cy="5029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2377440"/>
            <a:ext cx="411480" cy="2743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86000" y="2103120"/>
            <a:ext cx="411480" cy="54864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103120"/>
            <a:ext cx="411480" cy="210312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08960" y="1947672"/>
            <a:ext cx="411480" cy="36576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801368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002536"/>
            <a:ext cx="1143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520440" y="1947672"/>
            <a:ext cx="502920" cy="20116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2148840"/>
            <a:ext cx="457200" cy="50292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22392" y="2496312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532888"/>
            <a:ext cx="411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t+k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Long-Context Memory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concept.long_context_memory | editable PowerPoint shape primitive | tags: chunks, recall, compression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828800"/>
            <a:ext cx="219456" cy="40233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64592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85623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5276088" y="173736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865376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74520" y="3154680"/>
            <a:ext cx="342900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191256"/>
            <a:ext cx="3337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tokens / retrieved spans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 flipV="1">
            <a:off x="3474720" y="2011680"/>
            <a:ext cx="411480" cy="2743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00600" y="2011680"/>
            <a:ext cx="475488" cy="914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3886200" y="2377440"/>
            <a:ext cx="731520" cy="77724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Evaluation Matrix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concept.benchmark_eval_matrix | editable PowerPoint shape primitive | tags: tasks, metrics, leaderboard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459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88920" y="16459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83080" y="2468880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8568" y="2468880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4056" y="2468880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2468880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2468880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2761488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8568" y="2761488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4056" y="2761488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9544" y="2761488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5032" y="2761488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3054096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58568" y="3054096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34056" y="3054096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9544" y="3054096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3054096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3080" y="3346704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8568" y="3346704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34056" y="3346704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9544" y="3346704"/>
            <a:ext cx="310896" cy="182880"/>
          </a:xfrm>
          <a:prstGeom prst="rect">
            <a:avLst/>
          </a:prstGeom>
          <a:solidFill>
            <a:srgbClr val="DFF4E8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5032" y="3346704"/>
            <a:ext cx="310896" cy="182880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560320"/>
            <a:ext cx="86868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779776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2286000" y="2103120"/>
            <a:ext cx="914" cy="3657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246120" y="2103120"/>
            <a:ext cx="914" cy="365760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4069080" y="2935224"/>
            <a:ext cx="548640" cy="82296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to Training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concept.data_training_pipeline | editable PowerPoint shape primitive | tags: dataset, batch, optimizer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828800"/>
            <a:ext cx="786384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24812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2377440" y="1828800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24812"/>
            <a:ext cx="7863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630" dirty="0"/>
          </a:p>
        </p:txBody>
      </p:sp>
      <p:sp>
        <p:nvSpPr>
          <p:cNvPr id="9" name="Shape 7"/>
          <p:cNvSpPr/>
          <p:nvPr/>
        </p:nvSpPr>
        <p:spPr>
          <a:xfrm>
            <a:off x="3703320" y="1828800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924812"/>
            <a:ext cx="7863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924812"/>
            <a:ext cx="7863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2788920" y="295351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026664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+ optimizer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1929384" y="2084832"/>
            <a:ext cx="448056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55264" y="2084832"/>
            <a:ext cx="448056" cy="91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81144" y="2084832"/>
            <a:ext cx="448056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3931920" y="2331720"/>
            <a:ext cx="1536192" cy="6217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Self-Supervised Pairing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concept.self_supervised_pairs | editable PowerPoint shape primitive | tags: positive, negative, embedding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4592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741932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A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280160" y="256032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656332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B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651760" y="21031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19913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06240" y="1828800"/>
            <a:ext cx="475488" cy="475488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929384"/>
            <a:ext cx="420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937760" y="2468880"/>
            <a:ext cx="475488" cy="47548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569464"/>
            <a:ext cx="4206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931920" y="33192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3355848"/>
            <a:ext cx="1600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loss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148840" y="1892808"/>
            <a:ext cx="502920" cy="3657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2148840" y="2441448"/>
            <a:ext cx="502920" cy="3657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611880" y="2066544"/>
            <a:ext cx="594360" cy="28346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11880" y="2350008"/>
            <a:ext cx="1325880" cy="356616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GAN Adversarial Training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concept.gan_adversarial_training | editable PowerPoint shape primitive | tags: generator, discriminator, minimax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94560"/>
            <a:ext cx="731520" cy="438912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258568"/>
            <a:ext cx="640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z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468880" y="2011680"/>
            <a:ext cx="960120" cy="804672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258568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3886200" y="1673352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783080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886200" y="2587752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697480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330952" y="210312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2276856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discriminator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011680" y="2414016"/>
            <a:ext cx="457200" cy="91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3429000" y="1938528"/>
            <a:ext cx="457200" cy="47548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1938528"/>
            <a:ext cx="484632" cy="374904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4846320" y="2542032"/>
            <a:ext cx="484632" cy="31089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2953512" y="2761488"/>
            <a:ext cx="2880360" cy="987552"/>
          </a:xfrm>
          <a:prstGeom prst="line">
            <a:avLst/>
          </a:prstGeom>
          <a:noFill/>
          <a:ln w="1270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1460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666744"/>
            <a:ext cx="868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loss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VAE Latent Space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concept.vae_latent_space | editable PowerPoint shape primitive | tags: encoder, latent, decoder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2148840"/>
            <a:ext cx="77724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258568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x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404872" y="1984248"/>
            <a:ext cx="91440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2258568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21608" y="1892808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212848"/>
            <a:ext cx="8595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22192" y="3017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3017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3017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3017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6632" y="1984248"/>
            <a:ext cx="914400" cy="859536"/>
          </a:xfrm>
          <a:prstGeom prst="roundRect">
            <a:avLst>
              <a:gd name="adj" fmla="val 8511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258568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749808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258568"/>
            <a:ext cx="65836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hat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993392" y="2414016"/>
            <a:ext cx="41148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3319272" y="2350008"/>
            <a:ext cx="402336" cy="64008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36008" y="2350008"/>
            <a:ext cx="420624" cy="6400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71032" y="2414016"/>
            <a:ext cx="338328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65760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+ KL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Normalizing 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concept.normalizing_flow | editable PowerPoint shape primitive | tags: invertible, jacobian, density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221992"/>
            <a:ext cx="566928" cy="56692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368296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286000" y="2039112"/>
            <a:ext cx="658368" cy="93268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235000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91840" y="2039112"/>
            <a:ext cx="658368" cy="93268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35000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2505456"/>
            <a:ext cx="347472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2039112"/>
            <a:ext cx="658368" cy="93268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35000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950208" y="2505456"/>
            <a:ext cx="347472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2039112"/>
            <a:ext cx="658368" cy="93268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35000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56048" y="2505456"/>
            <a:ext cx="347472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28232" y="2221992"/>
            <a:ext cx="566928" cy="56692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368296"/>
            <a:ext cx="5120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801368" y="2505456"/>
            <a:ext cx="484632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61888" y="2505456"/>
            <a:ext cx="466344" cy="914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347472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3511296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det Jacobian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Energy-Based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concept.energy_based_model | editable PowerPoint shape primitive | tags: energy landscape, negative sampling, score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383280"/>
            <a:ext cx="4709160" cy="91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371600" y="1581912"/>
            <a:ext cx="914" cy="18013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63040" y="2011680"/>
            <a:ext cx="502920" cy="5943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011680"/>
            <a:ext cx="548640" cy="79552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14600" y="1856232"/>
            <a:ext cx="640080" cy="95097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856232"/>
            <a:ext cx="594360" cy="116128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749040" y="2075688"/>
            <a:ext cx="640080" cy="94183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075688"/>
            <a:ext cx="640080" cy="3657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029200" y="1920240"/>
            <a:ext cx="640080" cy="52120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673352"/>
            <a:ext cx="164592" cy="16459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2862072"/>
            <a:ext cx="164592" cy="16459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368503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721608"/>
            <a:ext cx="1051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data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886200" y="368503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721608"/>
            <a:ext cx="1234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samples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 SDE Sampler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concept.score_sde_sampler | editable PowerPoint shape primitive | tags: score matching, sde, reverse process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2057400"/>
            <a:ext cx="786384" cy="530352"/>
          </a:xfrm>
          <a:prstGeom prst="roundRect">
            <a:avLst>
              <a:gd name="adj" fmla="val 13793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167128"/>
            <a:ext cx="69494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377440" y="1929384"/>
            <a:ext cx="658368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02996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3291840" y="2093976"/>
            <a:ext cx="658368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035808" y="2240280"/>
            <a:ext cx="256032" cy="10972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1929384"/>
            <a:ext cx="658368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02996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 flipV="1">
            <a:off x="3950208" y="2185416"/>
            <a:ext cx="256032" cy="21945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093976"/>
            <a:ext cx="658368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864608" y="2240280"/>
            <a:ext cx="256032" cy="10972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45352" y="2075688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148840"/>
            <a:ext cx="6217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 flipV="1">
            <a:off x="2002536" y="2185416"/>
            <a:ext cx="374904" cy="137160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779008" y="2304288"/>
            <a:ext cx="466344" cy="4572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68880" y="3291840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328416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SDE / predictor-corrector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RLHF / DPO Preference Optimization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concept.rlhf_dpo_preference | editable PowerPoint shape primitive | tags: preference, reward model, policy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180136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874520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377440" y="1618488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655064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A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377440" y="224028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276856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B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657600" y="187452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002536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5120640" y="161848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655064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5120640" y="224028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276856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 flipV="1">
            <a:off x="1984248" y="1810512"/>
            <a:ext cx="393192" cy="21945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84248" y="2029968"/>
            <a:ext cx="393192" cy="40233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0" y="1810512"/>
            <a:ext cx="457200" cy="29260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3200400" y="2167128"/>
            <a:ext cx="457200" cy="265176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4709160" y="1810512"/>
            <a:ext cx="411480" cy="347472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157984"/>
            <a:ext cx="411480" cy="27432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80360" y="335584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RLHF / DPO update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Distillation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concept.model_distillation | editable PowerPoint shape primitive | tags: teacher, student, soft targets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64592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93392"/>
            <a:ext cx="1143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3200400" y="1892808"/>
            <a:ext cx="1005840" cy="512064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993392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754880" y="1819656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9339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2331720" y="317296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209544"/>
            <a:ext cx="2468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+ distillation loss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697480" y="2148840"/>
            <a:ext cx="50292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2148840"/>
            <a:ext cx="54864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2404872"/>
            <a:ext cx="914" cy="76809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 Learning Loop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concept.active_learning_loop | editable PowerPoint shape primitive | tags: uncertainty, labeling, selection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801368"/>
            <a:ext cx="914400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0195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88920" y="1801368"/>
            <a:ext cx="987552" cy="512064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901952"/>
            <a:ext cx="896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206240" y="1801368"/>
            <a:ext cx="841248" cy="512064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901952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788920" y="3108960"/>
            <a:ext cx="98755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209544"/>
            <a:ext cx="896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77440" y="2057400"/>
            <a:ext cx="41148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76472" y="2057400"/>
            <a:ext cx="429768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291840" y="2313432"/>
            <a:ext cx="1325880" cy="79552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1856232" y="2313432"/>
            <a:ext cx="932688" cy="10515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Continual Learning Replay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concept.continual_learning_replay | editable PowerPoint shape primitive | tags: memory, rehearsal, forgetting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46504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0136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94560" y="1746504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80136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08960" y="1746504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801368"/>
            <a:ext cx="566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389120" y="1618488"/>
            <a:ext cx="1051560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81051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874520" y="301752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memory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185416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6584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7752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90088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1256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2424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1956816"/>
            <a:ext cx="621792" cy="914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2971800" y="2313432"/>
            <a:ext cx="1920240" cy="70408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 flipV="1">
            <a:off x="2560320" y="2167128"/>
            <a:ext cx="411480" cy="85039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Meta-Learning / MAML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concept.meta_learning_maml | editable PowerPoint shape primitive | tags: inner loop, outer loop, few-shot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94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290572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theta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51760" y="1508760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554480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A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3931920" y="1508760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554480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theta'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 flipV="1">
            <a:off x="2148840" y="1709928"/>
            <a:ext cx="502920" cy="7315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709928"/>
            <a:ext cx="45720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51760" y="2167128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212848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B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931920" y="2167128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212848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theta'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 flipV="1">
            <a:off x="2148840" y="2368296"/>
            <a:ext cx="502920" cy="7315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0" y="2368296"/>
            <a:ext cx="45720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2825496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871216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C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931920" y="2825496"/>
            <a:ext cx="822960" cy="402336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871216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theta'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148840" y="2441448"/>
            <a:ext cx="502920" cy="5852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0" y="3026664"/>
            <a:ext cx="45720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112264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20827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 flipV="1">
            <a:off x="4754880" y="2368296"/>
            <a:ext cx="548640" cy="7315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Bayesian Uncertainty / Ensemble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concept.bayesian_uncertainty | editable PowerPoint shape primitive | tags: posterior, ensemble, calibration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929384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2025396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51760" y="1709928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801368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</a:t>
            </a:r>
            <a:endParaRPr lang="en-US" sz="580" dirty="0"/>
          </a:p>
        </p:txBody>
      </p:sp>
      <p:sp>
        <p:nvSpPr>
          <p:cNvPr id="9" name="Shape 7"/>
          <p:cNvSpPr/>
          <p:nvPr/>
        </p:nvSpPr>
        <p:spPr>
          <a:xfrm>
            <a:off x="2852928" y="1828800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920240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3054096" y="1947672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203911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3</a:t>
            </a:r>
            <a:endParaRPr lang="en-US" sz="580" dirty="0"/>
          </a:p>
        </p:txBody>
      </p:sp>
      <p:sp>
        <p:nvSpPr>
          <p:cNvPr id="13" name="Shape 11"/>
          <p:cNvSpPr/>
          <p:nvPr/>
        </p:nvSpPr>
        <p:spPr>
          <a:xfrm>
            <a:off x="3255264" y="2066544"/>
            <a:ext cx="960120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157984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4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4297680" y="178308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91109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97680" y="2651760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77977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 flipV="1">
            <a:off x="2130552" y="2130552"/>
            <a:ext cx="521208" cy="457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3813048" y="2066544"/>
            <a:ext cx="484632" cy="17373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13048" y="2240280"/>
            <a:ext cx="484632" cy="69494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DAG Adjustment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concept.causal_dag_adjustment | editable PowerPoint shape primitive | tags: causal graph, confounder, intervention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737360"/>
            <a:ext cx="438912" cy="43891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1819656"/>
            <a:ext cx="3840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291840" y="1737360"/>
            <a:ext cx="438912" cy="438912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819656"/>
            <a:ext cx="3840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377440" y="2651760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2734056"/>
            <a:ext cx="3840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0" y="2651760"/>
            <a:ext cx="438912" cy="438912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2734056"/>
            <a:ext cx="3840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993392" y="1956816"/>
            <a:ext cx="1298448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1810512" y="2176272"/>
            <a:ext cx="777240" cy="47548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587752" y="2176272"/>
            <a:ext cx="914400" cy="47548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3730752" y="2176272"/>
            <a:ext cx="475488" cy="694944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91640" y="356616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602736"/>
            <a:ext cx="2606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/ intervene / estimate effect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Two-Tower Recommender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concept.recommender_two_tower | editable PowerPoint shape primitive | tags: user tower, item tower, retrieval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673352"/>
            <a:ext cx="822960" cy="475488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755648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325880" y="2743200"/>
            <a:ext cx="822960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825496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755648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tower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606040" y="2624328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825496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tower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206240" y="1892808"/>
            <a:ext cx="420624" cy="42062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206240" y="2898648"/>
            <a:ext cx="420624" cy="42062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184648" y="2267712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363724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148840" y="1911096"/>
            <a:ext cx="45720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48840" y="2980944"/>
            <a:ext cx="457200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11880" y="1911096"/>
            <a:ext cx="594360" cy="19202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1880" y="2980944"/>
            <a:ext cx="594360" cy="12801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26864" y="2103120"/>
            <a:ext cx="557784" cy="384048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4626864" y="2487168"/>
            <a:ext cx="557784" cy="62179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Speech ASR Encoder-Decoder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concept.speech_asr_encoder_decoder | editable PowerPoint shape primitive | tags: audio, ctc, transcript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194560"/>
            <a:ext cx="54864" cy="457200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9304" y="2121408"/>
            <a:ext cx="54864" cy="566928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9888" y="2048256"/>
            <a:ext cx="54864" cy="676656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1975104"/>
            <a:ext cx="54864" cy="786384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91056" y="2194560"/>
            <a:ext cx="54864" cy="457200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121408"/>
            <a:ext cx="54864" cy="566928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92224" y="2048256"/>
            <a:ext cx="54864" cy="676656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1975104"/>
            <a:ext cx="54864" cy="786384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2194560"/>
            <a:ext cx="54864" cy="457200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2121408"/>
            <a:ext cx="54864" cy="566928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2048256"/>
            <a:ext cx="54864" cy="676656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95144" y="1975104"/>
            <a:ext cx="54864" cy="786384"/>
          </a:xfrm>
          <a:prstGeom prst="rect">
            <a:avLst/>
          </a:prstGeom>
          <a:solidFill>
            <a:srgbClr val="DBEAFE"/>
          </a:solidFill>
          <a:ln w="254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920240"/>
            <a:ext cx="960120" cy="749808"/>
          </a:xfrm>
          <a:prstGeom prst="roundRect">
            <a:avLst>
              <a:gd name="adj" fmla="val 975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139696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acoustic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114800" y="161848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655064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CTC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114800" y="24688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25054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532120" y="210312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18541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2377440" y="2295144"/>
            <a:ext cx="365760" cy="10972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3703320" y="1810512"/>
            <a:ext cx="411480" cy="48463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03320" y="2295144"/>
            <a:ext cx="411480" cy="3657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5029200" y="2350008"/>
            <a:ext cx="502920" cy="31089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Text-to-Speech Vocoder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concept.text_to_speech_vocoder | editable PowerPoint shape primitive | tags: phoneme, mel, waveform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87452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947672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1874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9476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phoneme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886200" y="1764792"/>
            <a:ext cx="914400" cy="676656"/>
          </a:xfrm>
          <a:prstGeom prst="roundRect">
            <a:avLst>
              <a:gd name="adj" fmla="val 10811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9476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spectrogram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023360" y="2148840"/>
            <a:ext cx="64008" cy="228600"/>
          </a:xfrm>
          <a:prstGeom prst="rect">
            <a:avLst/>
          </a:prstGeom>
          <a:solidFill>
            <a:srgbClr val="C4B5FD"/>
          </a:solidFill>
          <a:ln w="2540">
            <a:solidFill>
              <a:srgbClr val="6D2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2103120"/>
            <a:ext cx="64008" cy="274320"/>
          </a:xfrm>
          <a:prstGeom prst="rect">
            <a:avLst/>
          </a:prstGeom>
          <a:solidFill>
            <a:srgbClr val="C4B5FD"/>
          </a:solidFill>
          <a:ln w="254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2816" y="2057400"/>
            <a:ext cx="64008" cy="320040"/>
          </a:xfrm>
          <a:prstGeom prst="rect">
            <a:avLst/>
          </a:prstGeom>
          <a:solidFill>
            <a:srgbClr val="C4B5FD"/>
          </a:solidFill>
          <a:ln w="2540">
            <a:solidFill>
              <a:srgbClr val="6D28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2011680"/>
            <a:ext cx="64008" cy="365760"/>
          </a:xfrm>
          <a:prstGeom prst="rect">
            <a:avLst/>
          </a:prstGeom>
          <a:solidFill>
            <a:srgbClr val="C4B5FD"/>
          </a:solidFill>
          <a:ln w="2540">
            <a:solidFill>
              <a:srgbClr val="6D28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965960"/>
            <a:ext cx="64008" cy="411480"/>
          </a:xfrm>
          <a:prstGeom prst="rect">
            <a:avLst/>
          </a:prstGeom>
          <a:solidFill>
            <a:srgbClr val="C4B5FD"/>
          </a:solidFill>
          <a:ln w="2540">
            <a:solidFill>
              <a:srgbClr val="6D28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828800"/>
            <a:ext cx="91440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938528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vocoder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03120" y="2103120"/>
            <a:ext cx="457200" cy="91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4720" y="2103120"/>
            <a:ext cx="411480" cy="91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4800600" y="2093976"/>
            <a:ext cx="502920" cy="914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6217920" y="1892808"/>
            <a:ext cx="502920" cy="20116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93976"/>
            <a:ext cx="502920" cy="20116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Transformer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concept.graph_transformer | editable PowerPoint shape primitive | tags: nodes, edges, attention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600200" y="1645920"/>
            <a:ext cx="914400" cy="320040"/>
          </a:xfrm>
          <a:prstGeom prst="line">
            <a:avLst/>
          </a:prstGeom>
          <a:noFill/>
          <a:ln w="11430">
            <a:solidFill>
              <a:srgbClr val="BCC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1645920"/>
            <a:ext cx="777240" cy="502920"/>
          </a:xfrm>
          <a:prstGeom prst="line">
            <a:avLst/>
          </a:prstGeom>
          <a:noFill/>
          <a:ln w="11430">
            <a:solidFill>
              <a:srgbClr val="BC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965960"/>
            <a:ext cx="548640" cy="868680"/>
          </a:xfrm>
          <a:prstGeom prst="line">
            <a:avLst/>
          </a:prstGeom>
          <a:noFill/>
          <a:ln w="1143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834640"/>
            <a:ext cx="1051560" cy="274320"/>
          </a:xfrm>
          <a:prstGeom prst="line">
            <a:avLst/>
          </a:prstGeom>
          <a:noFill/>
          <a:ln w="1143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200400" y="2148840"/>
            <a:ext cx="91440" cy="960120"/>
          </a:xfrm>
          <a:prstGeom prst="line">
            <a:avLst/>
          </a:prstGeom>
          <a:noFill/>
          <a:ln w="11430">
            <a:solidFill>
              <a:srgbClr val="BC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148840" y="1645920"/>
            <a:ext cx="365760" cy="1188720"/>
          </a:xfrm>
          <a:prstGeom prst="line">
            <a:avLst/>
          </a:prstGeom>
          <a:noFill/>
          <a:ln w="11430">
            <a:solidFill>
              <a:srgbClr val="BCC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90472" y="1856232"/>
            <a:ext cx="219456" cy="21945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1874520"/>
            <a:ext cx="164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404872" y="1536192"/>
            <a:ext cx="219456" cy="21945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554480"/>
            <a:ext cx="164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3182112" y="2039112"/>
            <a:ext cx="219456" cy="21945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2057400"/>
            <a:ext cx="164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039112" y="2724912"/>
            <a:ext cx="219456" cy="21945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2743200"/>
            <a:ext cx="164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3090672" y="2999232"/>
            <a:ext cx="219456" cy="21945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3017520"/>
            <a:ext cx="164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4206240" y="1764792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874520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bias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4206240" y="2624328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2734056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attn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5760720" y="2194560"/>
            <a:ext cx="841248" cy="512064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295144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V="1">
            <a:off x="3429000" y="2029968"/>
            <a:ext cx="777240" cy="484632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29000" y="2514600"/>
            <a:ext cx="777240" cy="37490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5257800" y="2450592"/>
            <a:ext cx="502920" cy="43891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NAS / Hyperparameter Search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concept.nas_hyperparameter_search | editable PowerPoint shape primitive | tags: search space, controller, candidate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37360"/>
            <a:ext cx="960120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37944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960120" cy="512064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837944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160520" y="1399032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435608"/>
            <a:ext cx="566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160520" y="1929384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965960"/>
            <a:ext cx="566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160520" y="2459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96312"/>
            <a:ext cx="566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5330952" y="198424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066544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40280" y="1993392"/>
            <a:ext cx="502920" cy="91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3703320" y="1572768"/>
            <a:ext cx="457200" cy="42062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03320" y="1993392"/>
            <a:ext cx="457200" cy="10972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1993392"/>
            <a:ext cx="457200" cy="64008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18888" y="2103120"/>
            <a:ext cx="512064" cy="11887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227832" y="2459736"/>
            <a:ext cx="2532888" cy="106070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51760" y="341071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447288"/>
            <a:ext cx="1143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policy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Rendering / NeRF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concept.neural_rendering_nerf | editable PowerPoint shape primitive | tags: rays, density, view synthesis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48840"/>
            <a:ext cx="347472" cy="34747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4752" y="2185416"/>
            <a:ext cx="2926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 flipV="1">
            <a:off x="1764792" y="1673352"/>
            <a:ext cx="1801368" cy="649224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1764792" y="1984248"/>
            <a:ext cx="1801368" cy="338328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1764792" y="2295144"/>
            <a:ext cx="1801368" cy="27432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64792" y="2322576"/>
            <a:ext cx="1801368" cy="283464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64792" y="2322576"/>
            <a:ext cx="1801368" cy="59436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173736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244852"/>
            <a:ext cx="914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sigma,rgb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029200" y="205740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203704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rendered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 flipV="1">
            <a:off x="4572000" y="2359152"/>
            <a:ext cx="457200" cy="3657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03120" y="3447288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3483864"/>
            <a:ext cx="3063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rendering along camera rays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3D Gaussian Splatting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concept.gaussian_splatting_3d | editable PowerPoint shape primitive | tags: gaussians, camera, render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1737360"/>
            <a:ext cx="292608" cy="18288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59152" y="1737360"/>
            <a:ext cx="292608" cy="1828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737360"/>
            <a:ext cx="292608" cy="18288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2112" y="1737360"/>
            <a:ext cx="292608" cy="18288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737360"/>
            <a:ext cx="292608" cy="1828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7672" y="2148840"/>
            <a:ext cx="292608" cy="18288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148840"/>
            <a:ext cx="292608" cy="18288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2148840"/>
            <a:ext cx="292608" cy="1828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148840"/>
            <a:ext cx="292608" cy="18288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148840"/>
            <a:ext cx="292608" cy="18288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2560320"/>
            <a:ext cx="292608" cy="1828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9152" y="2560320"/>
            <a:ext cx="292608" cy="18288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2560320"/>
            <a:ext cx="292608" cy="18288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2560320"/>
            <a:ext cx="292608" cy="1828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2560320"/>
            <a:ext cx="384048" cy="38404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2615184"/>
            <a:ext cx="3291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4937760" y="1965960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139696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rasterize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355080" y="2103120"/>
            <a:ext cx="694944" cy="438912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167128"/>
            <a:ext cx="6035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 flipV="1">
            <a:off x="1572768" y="2331720"/>
            <a:ext cx="301752" cy="42062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4069080" y="2295144"/>
            <a:ext cx="868680" cy="36576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89320" y="2295144"/>
            <a:ext cx="365760" cy="2743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 Model Planning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concept.world_model_planning | editable PowerPoint shape primitive | tags: latent dynamics, rollout, planner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874520"/>
            <a:ext cx="777240" cy="475488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956816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04872" y="1746504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9476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3749040" y="1746504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947672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48072" y="1874520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956816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148072" y="2926080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3008376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 flipV="1">
            <a:off x="1993392" y="2103120"/>
            <a:ext cx="411480" cy="9144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19272" y="2103120"/>
            <a:ext cx="429768" cy="91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2103120"/>
            <a:ext cx="438912" cy="914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2350008"/>
            <a:ext cx="914" cy="57607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 flipV="1">
            <a:off x="3749040" y="2459736"/>
            <a:ext cx="1399032" cy="70408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Coordination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concept.multi_agent_coordination | editable PowerPoint shape primitive | tags: agents, communication, joint action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82880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56232" y="1920240"/>
            <a:ext cx="4023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580" dirty="0"/>
          </a:p>
        </p:txBody>
      </p:sp>
      <p:sp>
        <p:nvSpPr>
          <p:cNvPr id="7" name="Shape 5"/>
          <p:cNvSpPr/>
          <p:nvPr/>
        </p:nvSpPr>
        <p:spPr>
          <a:xfrm>
            <a:off x="3017520" y="155448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645920"/>
            <a:ext cx="4023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58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057400"/>
            <a:ext cx="4023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3520440" y="301752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108960"/>
            <a:ext cx="4023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580" dirty="0"/>
          </a:p>
        </p:txBody>
      </p:sp>
      <p:sp>
        <p:nvSpPr>
          <p:cNvPr id="13" name="Shape 11"/>
          <p:cNvSpPr/>
          <p:nvPr/>
        </p:nvSpPr>
        <p:spPr>
          <a:xfrm>
            <a:off x="2194560" y="292608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21992" y="3017520"/>
            <a:ext cx="4023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 flipV="1">
            <a:off x="2057400" y="1783080"/>
            <a:ext cx="1188720" cy="27432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783080"/>
            <a:ext cx="1188720" cy="41148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3749040" y="2194560"/>
            <a:ext cx="685800" cy="105156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 flipV="1">
            <a:off x="2423160" y="3154680"/>
            <a:ext cx="1325880" cy="9144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2057400" y="2057400"/>
            <a:ext cx="365760" cy="109728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783080"/>
            <a:ext cx="502920" cy="1463040"/>
          </a:xfrm>
          <a:prstGeom prst="line">
            <a:avLst/>
          </a:prstGeom>
          <a:noFill/>
          <a:ln w="10160">
            <a:solidFill>
              <a:srgbClr val="BCC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98424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112264"/>
            <a:ext cx="868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663440" y="2194560"/>
            <a:ext cx="640080" cy="7315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77440" y="374904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785616"/>
            <a:ext cx="2331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/ coordination graph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Detection Autoencoder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concept.anomaly_detection_autoencoder | editable PowerPoint shape primitive | tags: reconstruction, threshold, outlier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011680"/>
            <a:ext cx="777240" cy="493776"/>
          </a:xfrm>
          <a:prstGeom prst="roundRect">
            <a:avLst>
              <a:gd name="adj" fmla="val 1481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03120"/>
            <a:ext cx="685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08483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2057400"/>
            <a:ext cx="438912" cy="43891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139696"/>
            <a:ext cx="3840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8483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52160" y="2011680"/>
            <a:ext cx="731520" cy="493776"/>
          </a:xfrm>
          <a:prstGeom prst="roundRect">
            <a:avLst>
              <a:gd name="adj" fmla="val 1481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103120"/>
            <a:ext cx="640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108960" y="3291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&gt; threshold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 flipV="1">
            <a:off x="2057400" y="2240280"/>
            <a:ext cx="411480" cy="1828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83280" y="2240280"/>
            <a:ext cx="365760" cy="36576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4187952" y="2240280"/>
            <a:ext cx="384048" cy="3657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2240280"/>
            <a:ext cx="365760" cy="18288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Tabular Attention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concept.tabular_attention_model | editable PowerPoint shape primitive | tags: features, categorical, attention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709928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0784" y="1709928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1709928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9152" y="1709928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1709928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947672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0784" y="1947672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947672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1947672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8336" y="1947672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2185416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2185416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9968" y="2185416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9152" y="2185416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88336" y="2185416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423160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00784" y="2423160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29968" y="2423160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9152" y="2423160"/>
            <a:ext cx="219456" cy="146304"/>
          </a:xfrm>
          <a:prstGeom prst="rect">
            <a:avLst/>
          </a:prstGeom>
          <a:solidFill>
            <a:srgbClr val="F8FAFC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88336" y="2423160"/>
            <a:ext cx="219456" cy="146304"/>
          </a:xfrm>
          <a:prstGeom prst="rect">
            <a:avLst/>
          </a:prstGeom>
          <a:solidFill>
            <a:srgbClr val="EAF2FF"/>
          </a:solidFill>
          <a:ln w="3810">
            <a:solidFill>
              <a:srgbClr val="BCC8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73736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429000" y="25603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633472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846320" y="2130552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12848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 flipV="1">
            <a:off x="3017520" y="1965960"/>
            <a:ext cx="411480" cy="164592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343400" y="1965960"/>
            <a:ext cx="502920" cy="40233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4343400" y="2368296"/>
            <a:ext cx="502920" cy="42062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Privacy Training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concept.differential_privacy_training | editable PowerPoint shape primitive | tags: dp-sgd, clipping, noise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11338560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764792"/>
            <a:ext cx="868680" cy="475488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47088"/>
            <a:ext cx="777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per-example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grads</a:t>
            </a:r>
            <a:endParaRPr lang="en-US" sz="580" dirty="0"/>
          </a:p>
        </p:txBody>
      </p:sp>
      <p:sp>
        <p:nvSpPr>
          <p:cNvPr id="7" name="Shape 5"/>
          <p:cNvSpPr/>
          <p:nvPr/>
        </p:nvSpPr>
        <p:spPr>
          <a:xfrm>
            <a:off x="2560320" y="1764792"/>
            <a:ext cx="841248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847088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94760" y="1764792"/>
            <a:ext cx="841248" cy="475488"/>
          </a:xfrm>
          <a:prstGeom prst="roundRect">
            <a:avLst>
              <a:gd name="adj" fmla="val 15385"/>
            </a:avLst>
          </a:prstGeom>
          <a:solidFill>
            <a:srgbClr val="FDECE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847088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5029200" y="1764792"/>
            <a:ext cx="841248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847088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80360" y="3017520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072384"/>
            <a:ext cx="1371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budget epsilon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148840" y="2002536"/>
            <a:ext cx="411480" cy="91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01568" y="2002536"/>
            <a:ext cx="393192" cy="914"/>
          </a:xfrm>
          <a:prstGeom prst="line">
            <a:avLst/>
          </a:prstGeom>
          <a:noFill/>
          <a:ln w="1524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36008" y="2002536"/>
            <a:ext cx="393192" cy="91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3749040" y="2240280"/>
            <a:ext cx="466344" cy="77724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1133856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BC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object contract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Every internal block is a native PPT shape.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2313432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585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Arrows can be rerouted; labels can be edited.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748272" y="2752344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697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Use as a conceptual stencil, not as paper fact transfer.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748272" y="3191256"/>
            <a:ext cx="146304" cy="14630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8212B"/>
                </a:solidFill>
              </a:rPr>
              <a:t>Replace labels with target-paper supported terms.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boundary: visual/layout concept only; do not copy source-paper claims, metrics, datasets, or module names.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Local PFOS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PFOS High-Level Editable Neural Concepts</dc:title>
  <dc:subject>Editable neural network concept primitives</dc:subject>
  <dc:creator>PFOS Skill A</dc:creator>
  <cp:lastModifiedBy>PFOS Skill A</cp:lastModifiedBy>
  <cp:revision>1</cp:revision>
  <dcterms:created xsi:type="dcterms:W3CDTF">2026-05-24T12:02:55Z</dcterms:created>
  <dcterms:modified xsi:type="dcterms:W3CDTF">2026-05-24T12:02:55Z</dcterms:modified>
</cp:coreProperties>
</file>